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5" r:id="rId11"/>
    <p:sldId id="269" r:id="rId12"/>
    <p:sldId id="267" r:id="rId13"/>
    <p:sldId id="268" r:id="rId14"/>
    <p:sldId id="285" r:id="rId15"/>
    <p:sldId id="280" r:id="rId16"/>
    <p:sldId id="273" r:id="rId17"/>
    <p:sldId id="286" r:id="rId18"/>
    <p:sldId id="270" r:id="rId19"/>
    <p:sldId id="271" r:id="rId20"/>
    <p:sldId id="28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F31EA9-F7EE-4996-A103-5F02CAA0BD45}" v="19" dt="2025-10-17T23:35:11.9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8953" autoAdjust="0"/>
  </p:normalViewPr>
  <p:slideViewPr>
    <p:cSldViewPr snapToGrid="0">
      <p:cViewPr varScale="1">
        <p:scale>
          <a:sx n="98" d="100"/>
          <a:sy n="98" d="100"/>
        </p:scale>
        <p:origin x="10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361D2-2ACE-413C-A726-B47F80A07AD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75F03-CF43-4CFF-900E-E5BFC859D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F75F03-CF43-4CFF-900E-E5BFC859D7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737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75F03-CF43-4CFF-900E-E5BFC859D7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29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Cartesian multiplication.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F75F03-CF43-4CFF-900E-E5BFC859D7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91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9B399-A5BC-F8AD-61E3-47E7423A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0B566-A14E-D1D1-C8CD-664CBD112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7FAF8-CE4C-8597-71A6-9B7DEF4B6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3B0B9-D6B6-91A8-C566-215333DF8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75F03-CF43-4CFF-900E-E5BFC859D7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43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in </a:t>
            </a:r>
            <a:r>
              <a:rPr lang="en-US" dirty="0" err="1"/>
              <a:t>book_table</a:t>
            </a:r>
            <a:r>
              <a:rPr lang="en-US" dirty="0"/>
              <a:t> that has a match with Author name is included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F75F03-CF43-4CFF-900E-E5BFC859D7B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97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in </a:t>
            </a:r>
            <a:r>
              <a:rPr lang="en-US" dirty="0" err="1"/>
              <a:t>book_table</a:t>
            </a:r>
            <a:r>
              <a:rPr lang="en-US" dirty="0"/>
              <a:t> that has a match with Author name is included, all others are dropped.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F75F03-CF43-4CFF-900E-E5BFC859D7B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56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4DF0-A3AD-4304-BD05-AFD9E8A074B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1377E-E0BC-4043-9342-9183DBE79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4DF0-A3AD-4304-BD05-AFD9E8A074B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1377E-E0BC-4043-9342-9183DBE79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4DF0-A3AD-4304-BD05-AFD9E8A074B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1377E-E0BC-4043-9342-9183DBE79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79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4DF0-A3AD-4304-BD05-AFD9E8A074B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1377E-E0BC-4043-9342-9183DBE79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6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4DF0-A3AD-4304-BD05-AFD9E8A074B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1377E-E0BC-4043-9342-9183DBE79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0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4DF0-A3AD-4304-BD05-AFD9E8A074B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1377E-E0BC-4043-9342-9183DBE79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8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4DF0-A3AD-4304-BD05-AFD9E8A074B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1377E-E0BC-4043-9342-9183DBE79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10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4DF0-A3AD-4304-BD05-AFD9E8A074B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1377E-E0BC-4043-9342-9183DBE79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72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4DF0-A3AD-4304-BD05-AFD9E8A074B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1377E-E0BC-4043-9342-9183DBE79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9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4DF0-A3AD-4304-BD05-AFD9E8A074B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1377E-E0BC-4043-9342-9183DBE79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52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4DF0-A3AD-4304-BD05-AFD9E8A074B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1377E-E0BC-4043-9342-9183DBE79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7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94DF0-A3AD-4304-BD05-AFD9E8A074B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1377E-E0BC-4043-9342-9183DBE79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28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Joins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67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“Book Table”                       “Author Table”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3465127"/>
              </p:ext>
            </p:extLst>
          </p:nvPr>
        </p:nvGraphicFramePr>
        <p:xfrm>
          <a:off x="407324" y="1825625"/>
          <a:ext cx="569421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697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613448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898073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Harry Potter, Half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5051855"/>
              </p:ext>
            </p:extLst>
          </p:nvPr>
        </p:nvGraphicFramePr>
        <p:xfrm>
          <a:off x="6885706" y="1831383"/>
          <a:ext cx="446809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19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646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Key: a unique identifier for a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5048236"/>
              </p:ext>
            </p:extLst>
          </p:nvPr>
        </p:nvGraphicFramePr>
        <p:xfrm>
          <a:off x="407324" y="1825625"/>
          <a:ext cx="569421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697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613448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898073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Author_name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Harry Potter, Half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2915342"/>
              </p:ext>
            </p:extLst>
          </p:nvPr>
        </p:nvGraphicFramePr>
        <p:xfrm>
          <a:off x="6885706" y="1831383"/>
          <a:ext cx="446809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19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07324" y="4954385"/>
            <a:ext cx="569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primary key for the table above?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8311" y="3724101"/>
            <a:ext cx="3596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primary key for the table above?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668" y="5434957"/>
            <a:ext cx="10755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primary key must be unique for every row in a 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possible to create a primary key by combining the values of two or more columns. This is called a </a:t>
            </a:r>
            <a:r>
              <a:rPr lang="en-US" b="1" dirty="0"/>
              <a:t>composite primary key</a:t>
            </a:r>
            <a:r>
              <a:rPr lang="en-US" dirty="0"/>
              <a:t>.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table can only have one primary key, but the primary key may be composed from more than one column.</a:t>
            </a:r>
          </a:p>
        </p:txBody>
      </p:sp>
    </p:spTree>
    <p:extLst>
      <p:ext uri="{BB962C8B-B14F-4D97-AF65-F5344CB8AC3E}">
        <p14:creationId xmlns:p14="http://schemas.microsoft.com/office/powerpoint/2010/main" val="250495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Foreign Key: column(s) in one table that provide the link to another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2538162"/>
              </p:ext>
            </p:extLst>
          </p:nvPr>
        </p:nvGraphicFramePr>
        <p:xfrm>
          <a:off x="407324" y="1825625"/>
          <a:ext cx="501257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697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613448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16429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Author_name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Harry Potter, Half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6885706" y="1831383"/>
          <a:ext cx="446809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19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84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227" y="156065"/>
            <a:ext cx="11095545" cy="1325563"/>
          </a:xfrm>
        </p:spPr>
        <p:txBody>
          <a:bodyPr>
            <a:normAutofit/>
          </a:bodyPr>
          <a:lstStyle/>
          <a:p>
            <a:r>
              <a:rPr lang="en-US" sz="2800" dirty="0" err="1"/>
              <a:t>pd.merge</a:t>
            </a:r>
            <a:r>
              <a:rPr lang="en-US" sz="2800" dirty="0"/>
              <a:t>(</a:t>
            </a:r>
            <a:r>
              <a:rPr lang="en-US" sz="2800" dirty="0" err="1"/>
              <a:t>book_table</a:t>
            </a:r>
            <a:r>
              <a:rPr lang="en-US" sz="2800" dirty="0"/>
              <a:t>, </a:t>
            </a:r>
            <a:r>
              <a:rPr lang="en-US" sz="2800" dirty="0" err="1"/>
              <a:t>author_table</a:t>
            </a:r>
            <a:r>
              <a:rPr lang="en-US" sz="2800" dirty="0"/>
              <a:t>, </a:t>
            </a:r>
            <a:br>
              <a:rPr lang="en-US" sz="2800" dirty="0"/>
            </a:br>
            <a:r>
              <a:rPr lang="en-US" sz="2800" dirty="0"/>
              <a:t>                  </a:t>
            </a:r>
            <a:r>
              <a:rPr lang="en-US" sz="2800" dirty="0" err="1"/>
              <a:t>on_x</a:t>
            </a:r>
            <a:r>
              <a:rPr lang="en-US" sz="2800" dirty="0"/>
              <a:t> = “</a:t>
            </a:r>
            <a:r>
              <a:rPr lang="en-US" sz="2800" dirty="0" err="1"/>
              <a:t>Author_name</a:t>
            </a:r>
            <a:r>
              <a:rPr lang="en-US" sz="2800" dirty="0"/>
              <a:t>”, </a:t>
            </a:r>
            <a:r>
              <a:rPr lang="en-US" sz="2800" dirty="0" err="1"/>
              <a:t>on_y</a:t>
            </a:r>
            <a:r>
              <a:rPr lang="en-US" sz="2800" dirty="0"/>
              <a:t> = “Author”, </a:t>
            </a:r>
            <a:br>
              <a:rPr lang="en-US" sz="2800" dirty="0"/>
            </a:br>
            <a:r>
              <a:rPr lang="en-US" sz="2800" dirty="0"/>
              <a:t>                  how = “left”)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9074218"/>
              </p:ext>
            </p:extLst>
          </p:nvPr>
        </p:nvGraphicFramePr>
        <p:xfrm>
          <a:off x="407324" y="1825625"/>
          <a:ext cx="501257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697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613448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16429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Harry Potter, Half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6885706" y="1831383"/>
          <a:ext cx="446809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19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7324" y="5187142"/>
            <a:ext cx="1122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from </a:t>
            </a:r>
            <a:r>
              <a:rPr lang="en-US" b="1" dirty="0"/>
              <a:t>left</a:t>
            </a:r>
            <a:r>
              <a:rPr lang="en-US" dirty="0"/>
              <a:t> to right. Start with all the rows in </a:t>
            </a:r>
            <a:r>
              <a:rPr lang="en-US" dirty="0" err="1"/>
              <a:t>book_table</a:t>
            </a:r>
            <a:r>
              <a:rPr lang="en-US" dirty="0"/>
              <a:t>, then add the columns  from the </a:t>
            </a:r>
            <a:r>
              <a:rPr lang="en-US" dirty="0" err="1"/>
              <a:t>author_table</a:t>
            </a:r>
            <a:r>
              <a:rPr lang="en-US" dirty="0"/>
              <a:t> where </a:t>
            </a:r>
            <a:r>
              <a:rPr lang="en-US" dirty="0" err="1"/>
              <a:t>Author_name</a:t>
            </a:r>
            <a:r>
              <a:rPr lang="en-US" dirty="0"/>
              <a:t> and Author match.</a:t>
            </a:r>
          </a:p>
        </p:txBody>
      </p:sp>
    </p:spTree>
    <p:extLst>
      <p:ext uri="{BB962C8B-B14F-4D97-AF65-F5344CB8AC3E}">
        <p14:creationId xmlns:p14="http://schemas.microsoft.com/office/powerpoint/2010/main" val="1774023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07324" y="1825625"/>
          <a:ext cx="501257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697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613448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16429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Harry Potter, Half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6885706" y="1831383"/>
          <a:ext cx="446809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19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7324" y="5187142"/>
            <a:ext cx="1122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 the two tables, start with the rows of the one listed on the left: </a:t>
            </a:r>
            <a:r>
              <a:rPr lang="en-US" dirty="0" err="1"/>
              <a:t>book_table</a:t>
            </a:r>
            <a:r>
              <a:rPr lang="en-US" dirty="0"/>
              <a:t>.</a:t>
            </a:r>
          </a:p>
          <a:p>
            <a:r>
              <a:rPr lang="en-US" dirty="0"/>
              <a:t>Then add the columns  from the </a:t>
            </a:r>
            <a:r>
              <a:rPr lang="en-US" dirty="0" err="1"/>
              <a:t>author_table</a:t>
            </a:r>
            <a:r>
              <a:rPr lang="en-US" dirty="0"/>
              <a:t> where </a:t>
            </a:r>
            <a:r>
              <a:rPr lang="en-US" dirty="0" err="1"/>
              <a:t>Author_name</a:t>
            </a:r>
            <a:r>
              <a:rPr lang="en-US" dirty="0"/>
              <a:t> and Author match.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5494713" y="2543695"/>
            <a:ext cx="1390993" cy="20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5494713" y="2745783"/>
            <a:ext cx="1390993" cy="1817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5494713" y="3133898"/>
            <a:ext cx="13909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5494713" y="3499658"/>
            <a:ext cx="1390993" cy="590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391BDB-8004-3F2E-4DA8-8A4899BB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27" y="156065"/>
            <a:ext cx="11095545" cy="1325563"/>
          </a:xfrm>
        </p:spPr>
        <p:txBody>
          <a:bodyPr>
            <a:normAutofit/>
          </a:bodyPr>
          <a:lstStyle/>
          <a:p>
            <a:r>
              <a:rPr lang="en-US" sz="2800" dirty="0" err="1"/>
              <a:t>pd.merge</a:t>
            </a:r>
            <a:r>
              <a:rPr lang="en-US" sz="2800" dirty="0"/>
              <a:t>(</a:t>
            </a:r>
            <a:r>
              <a:rPr lang="en-US" sz="2800" dirty="0" err="1"/>
              <a:t>book_table</a:t>
            </a:r>
            <a:r>
              <a:rPr lang="en-US" sz="2800" dirty="0"/>
              <a:t>, </a:t>
            </a:r>
            <a:r>
              <a:rPr lang="en-US" sz="2800" dirty="0" err="1"/>
              <a:t>author_table</a:t>
            </a:r>
            <a:r>
              <a:rPr lang="en-US" sz="2800" dirty="0"/>
              <a:t>, </a:t>
            </a:r>
            <a:br>
              <a:rPr lang="en-US" sz="2800" dirty="0"/>
            </a:br>
            <a:r>
              <a:rPr lang="en-US" sz="2800" dirty="0"/>
              <a:t> </a:t>
            </a:r>
            <a:r>
              <a:rPr lang="en-US" sz="2800" dirty="0" err="1"/>
              <a:t>on_x</a:t>
            </a:r>
            <a:r>
              <a:rPr lang="en-US" sz="2800" dirty="0"/>
              <a:t> = “</a:t>
            </a:r>
            <a:r>
              <a:rPr lang="en-US" sz="2800" dirty="0" err="1"/>
              <a:t>Author_name</a:t>
            </a:r>
            <a:r>
              <a:rPr lang="en-US" sz="2800" dirty="0"/>
              <a:t>”, </a:t>
            </a:r>
            <a:r>
              <a:rPr lang="en-US" sz="2800" dirty="0" err="1"/>
              <a:t>on_y</a:t>
            </a:r>
            <a:r>
              <a:rPr lang="en-US" sz="2800" dirty="0"/>
              <a:t> = “Author”,</a:t>
            </a:r>
            <a:br>
              <a:rPr lang="en-US" sz="2800" dirty="0"/>
            </a:br>
            <a:r>
              <a:rPr lang="en-US" sz="2800" dirty="0"/>
              <a:t>                  how = “left”)</a:t>
            </a:r>
          </a:p>
        </p:txBody>
      </p:sp>
    </p:spTree>
    <p:extLst>
      <p:ext uri="{BB962C8B-B14F-4D97-AF65-F5344CB8AC3E}">
        <p14:creationId xmlns:p14="http://schemas.microsoft.com/office/powerpoint/2010/main" val="1660161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1676614"/>
              </p:ext>
            </p:extLst>
          </p:nvPr>
        </p:nvGraphicFramePr>
        <p:xfrm>
          <a:off x="407324" y="1825625"/>
          <a:ext cx="501257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697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613448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16429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Harry Potter, Half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72071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5751107"/>
              </p:ext>
            </p:extLst>
          </p:nvPr>
        </p:nvGraphicFramePr>
        <p:xfrm>
          <a:off x="6885706" y="1831383"/>
          <a:ext cx="446809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19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7324" y="5187142"/>
            <a:ext cx="1122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 the two tables, start with the rows of the one listed on the left: </a:t>
            </a:r>
            <a:r>
              <a:rPr lang="en-US" dirty="0" err="1"/>
              <a:t>book_table</a:t>
            </a:r>
            <a:r>
              <a:rPr lang="en-US" dirty="0"/>
              <a:t>.</a:t>
            </a:r>
          </a:p>
          <a:p>
            <a:r>
              <a:rPr lang="en-US" dirty="0"/>
              <a:t>Then add the columns  from the </a:t>
            </a:r>
            <a:r>
              <a:rPr lang="en-US" dirty="0" err="1"/>
              <a:t>author_table</a:t>
            </a:r>
            <a:r>
              <a:rPr lang="en-US" dirty="0"/>
              <a:t> where </a:t>
            </a:r>
            <a:r>
              <a:rPr lang="en-US" dirty="0" err="1"/>
              <a:t>Author_name</a:t>
            </a:r>
            <a:r>
              <a:rPr lang="en-US" dirty="0"/>
              <a:t> and Author match.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5494713" y="2543695"/>
            <a:ext cx="1390993" cy="20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5494713" y="2745783"/>
            <a:ext cx="1390993" cy="1817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5494713" y="3133898"/>
            <a:ext cx="13909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5494713" y="3499658"/>
            <a:ext cx="1390993" cy="590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5993476"/>
            <a:ext cx="10897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do we do with Jane and White Fang?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BC5DFB-4887-951A-013C-BAB6668C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27" y="156065"/>
            <a:ext cx="11095545" cy="1325563"/>
          </a:xfrm>
        </p:spPr>
        <p:txBody>
          <a:bodyPr>
            <a:normAutofit/>
          </a:bodyPr>
          <a:lstStyle/>
          <a:p>
            <a:r>
              <a:rPr lang="en-US" sz="2800" dirty="0" err="1"/>
              <a:t>pd.merge</a:t>
            </a:r>
            <a:r>
              <a:rPr lang="en-US" sz="2800" dirty="0"/>
              <a:t>(</a:t>
            </a:r>
            <a:r>
              <a:rPr lang="en-US" sz="2800" dirty="0" err="1"/>
              <a:t>book_table</a:t>
            </a:r>
            <a:r>
              <a:rPr lang="en-US" sz="2800" dirty="0"/>
              <a:t>, </a:t>
            </a:r>
            <a:r>
              <a:rPr lang="en-US" sz="2800" dirty="0" err="1"/>
              <a:t>author_table</a:t>
            </a:r>
            <a:r>
              <a:rPr lang="en-US" sz="2800" dirty="0"/>
              <a:t>, </a:t>
            </a:r>
            <a:br>
              <a:rPr lang="en-US" sz="2800" dirty="0"/>
            </a:br>
            <a:r>
              <a:rPr lang="en-US" sz="2800" dirty="0"/>
              <a:t> </a:t>
            </a:r>
            <a:r>
              <a:rPr lang="en-US" sz="2800" dirty="0" err="1"/>
              <a:t>on_x</a:t>
            </a:r>
            <a:r>
              <a:rPr lang="en-US" sz="2800" dirty="0"/>
              <a:t> = “</a:t>
            </a:r>
            <a:r>
              <a:rPr lang="en-US" sz="2800" dirty="0" err="1"/>
              <a:t>Author_name</a:t>
            </a:r>
            <a:r>
              <a:rPr lang="en-US" sz="2800" dirty="0"/>
              <a:t>”, </a:t>
            </a:r>
            <a:r>
              <a:rPr lang="en-US" sz="2800" dirty="0" err="1"/>
              <a:t>on_y</a:t>
            </a:r>
            <a:r>
              <a:rPr lang="en-US" sz="2800" dirty="0"/>
              <a:t> = “Author”,</a:t>
            </a:r>
            <a:br>
              <a:rPr lang="en-US" sz="2800" dirty="0"/>
            </a:br>
            <a:r>
              <a:rPr lang="en-US" sz="2800" dirty="0"/>
              <a:t>                  how = “left”)</a:t>
            </a:r>
          </a:p>
        </p:txBody>
      </p:sp>
    </p:spTree>
    <p:extLst>
      <p:ext uri="{BB962C8B-B14F-4D97-AF65-F5344CB8AC3E}">
        <p14:creationId xmlns:p14="http://schemas.microsoft.com/office/powerpoint/2010/main" val="1156068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5894151"/>
              </p:ext>
            </p:extLst>
          </p:nvPr>
        </p:nvGraphicFramePr>
        <p:xfrm>
          <a:off x="407324" y="1418789"/>
          <a:ext cx="5012574" cy="1973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258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388225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</a:tblGrid>
              <a:tr h="328882">
                <a:tc>
                  <a:txBody>
                    <a:bodyPr/>
                    <a:lstStyle/>
                    <a:p>
                      <a:r>
                        <a:rPr lang="en-US" sz="14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Author_name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28882">
                <a:tc>
                  <a:txBody>
                    <a:bodyPr/>
                    <a:lstStyle/>
                    <a:p>
                      <a:r>
                        <a:rPr lang="en-US" sz="1400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28882">
                <a:tc>
                  <a:txBody>
                    <a:bodyPr/>
                    <a:lstStyle/>
                    <a:p>
                      <a:r>
                        <a:rPr lang="en-US" sz="1400" dirty="0"/>
                        <a:t>Harry Potter, Half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28882">
                <a:tc>
                  <a:txBody>
                    <a:bodyPr/>
                    <a:lstStyle/>
                    <a:p>
                      <a:r>
                        <a:rPr lang="en-US" sz="1400" dirty="0"/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72071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28882">
                <a:tc>
                  <a:txBody>
                    <a:bodyPr/>
                    <a:lstStyle/>
                    <a:p>
                      <a:r>
                        <a:rPr lang="en-US" sz="1400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328882">
                <a:tc>
                  <a:txBody>
                    <a:bodyPr/>
                    <a:lstStyle/>
                    <a:p>
                      <a:r>
                        <a:rPr lang="en-US" sz="1400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0534692"/>
              </p:ext>
            </p:extLst>
          </p:nvPr>
        </p:nvGraphicFramePr>
        <p:xfrm>
          <a:off x="6853841" y="1385050"/>
          <a:ext cx="446809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19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230605"/>
              </p:ext>
            </p:extLst>
          </p:nvPr>
        </p:nvGraphicFramePr>
        <p:xfrm>
          <a:off x="1126374" y="4505674"/>
          <a:ext cx="9476509" cy="22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8128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2053589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548264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  <a:gridCol w="1548264">
                  <a:extLst>
                    <a:ext uri="{9D8B030D-6E8A-4147-A177-3AD203B41FA5}">
                      <a16:colId xmlns:a16="http://schemas.microsoft.com/office/drawing/2014/main" val="313856867"/>
                    </a:ext>
                  </a:extLst>
                </a:gridCol>
                <a:gridCol w="1548264">
                  <a:extLst>
                    <a:ext uri="{9D8B030D-6E8A-4147-A177-3AD203B41FA5}">
                      <a16:colId xmlns:a16="http://schemas.microsoft.com/office/drawing/2014/main" val="3875263699"/>
                    </a:ext>
                  </a:extLst>
                </a:gridCol>
              </a:tblGrid>
              <a:tr h="266887"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266887">
                <a:tc>
                  <a:txBody>
                    <a:bodyPr/>
                    <a:lstStyle/>
                    <a:p>
                      <a:r>
                        <a:rPr lang="en-US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419550">
                <a:tc>
                  <a:txBody>
                    <a:bodyPr/>
                    <a:lstStyle/>
                    <a:p>
                      <a:r>
                        <a:rPr lang="en-US" sz="1600" dirty="0"/>
                        <a:t>Harry Potter, Half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266887">
                <a:tc>
                  <a:txBody>
                    <a:bodyPr/>
                    <a:lstStyle/>
                    <a:p>
                      <a:r>
                        <a:rPr lang="en-US" dirty="0"/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NaN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266887">
                <a:tc>
                  <a:txBody>
                    <a:bodyPr/>
                    <a:lstStyle/>
                    <a:p>
                      <a:r>
                        <a:rPr lang="en-US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266887">
                <a:tc>
                  <a:txBody>
                    <a:bodyPr/>
                    <a:lstStyle/>
                    <a:p>
                      <a:r>
                        <a:rPr lang="en-US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274128" y="3760575"/>
            <a:ext cx="31809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New Table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549535" y="3308981"/>
            <a:ext cx="515389" cy="1196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20240" y="3532909"/>
            <a:ext cx="1911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All rows for </a:t>
            </a:r>
            <a:r>
              <a:rPr lang="en-US" sz="1400" dirty="0" err="1"/>
              <a:t>Author_name</a:t>
            </a:r>
            <a:r>
              <a:rPr lang="en-US" sz="1400" dirty="0"/>
              <a:t> included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C7B65-1D1D-6594-024F-9F74EC9C1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27" y="156065"/>
            <a:ext cx="11095545" cy="1325563"/>
          </a:xfrm>
        </p:spPr>
        <p:txBody>
          <a:bodyPr>
            <a:normAutofit/>
          </a:bodyPr>
          <a:lstStyle/>
          <a:p>
            <a:r>
              <a:rPr lang="en-US" sz="2800" dirty="0" err="1"/>
              <a:t>pd.merge</a:t>
            </a:r>
            <a:r>
              <a:rPr lang="en-US" sz="2800" dirty="0"/>
              <a:t>(</a:t>
            </a:r>
            <a:r>
              <a:rPr lang="en-US" sz="2800" dirty="0" err="1"/>
              <a:t>book_table</a:t>
            </a:r>
            <a:r>
              <a:rPr lang="en-US" sz="2800" dirty="0"/>
              <a:t>, </a:t>
            </a:r>
            <a:r>
              <a:rPr lang="en-US" sz="2800" dirty="0" err="1"/>
              <a:t>author_table</a:t>
            </a:r>
            <a:r>
              <a:rPr lang="en-US" sz="2800" dirty="0"/>
              <a:t>, </a:t>
            </a:r>
            <a:br>
              <a:rPr lang="en-US" sz="2800" dirty="0"/>
            </a:br>
            <a:r>
              <a:rPr lang="en-US" sz="2800" dirty="0"/>
              <a:t>                  </a:t>
            </a:r>
            <a:r>
              <a:rPr lang="en-US" sz="2800" dirty="0" err="1"/>
              <a:t>on_x</a:t>
            </a:r>
            <a:r>
              <a:rPr lang="en-US" sz="2800" dirty="0"/>
              <a:t> = “</a:t>
            </a:r>
            <a:r>
              <a:rPr lang="en-US" sz="2800" dirty="0" err="1"/>
              <a:t>Author_name</a:t>
            </a:r>
            <a:r>
              <a:rPr lang="en-US" sz="2800" dirty="0"/>
              <a:t>”, </a:t>
            </a:r>
            <a:r>
              <a:rPr lang="en-US" sz="2800" dirty="0" err="1"/>
              <a:t>on_y</a:t>
            </a:r>
            <a:r>
              <a:rPr lang="en-US" sz="2800" dirty="0"/>
              <a:t> = “Author”,</a:t>
            </a:r>
            <a:br>
              <a:rPr lang="en-US" sz="2800" dirty="0"/>
            </a:br>
            <a:r>
              <a:rPr lang="en-US" sz="2800" dirty="0"/>
              <a:t>                  how = “left”)</a:t>
            </a:r>
          </a:p>
        </p:txBody>
      </p:sp>
    </p:spTree>
    <p:extLst>
      <p:ext uri="{BB962C8B-B14F-4D97-AF65-F5344CB8AC3E}">
        <p14:creationId xmlns:p14="http://schemas.microsoft.com/office/powerpoint/2010/main" val="4169529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07324" y="1825625"/>
          <a:ext cx="501257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697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613448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16429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Harry Potter, Half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6885706" y="1861755"/>
          <a:ext cx="446809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19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endCxn id="5" idx="1"/>
          </p:cNvCxnSpPr>
          <p:nvPr/>
        </p:nvCxnSpPr>
        <p:spPr>
          <a:xfrm>
            <a:off x="3499658" y="2543695"/>
            <a:ext cx="3386048" cy="20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707476" y="3025833"/>
            <a:ext cx="3241964" cy="83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3832167" y="3516284"/>
            <a:ext cx="3117273" cy="581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5" idx="1"/>
          </p:cNvCxnSpPr>
          <p:nvPr/>
        </p:nvCxnSpPr>
        <p:spPr>
          <a:xfrm flipV="1">
            <a:off x="3566160" y="2745783"/>
            <a:ext cx="3319546" cy="1834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7324" y="5262690"/>
            <a:ext cx="1122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 the two tables, start with the rows of the one listed on the </a:t>
            </a:r>
            <a:r>
              <a:rPr lang="en-US" b="1" dirty="0"/>
              <a:t>RIGHT</a:t>
            </a:r>
            <a:r>
              <a:rPr lang="en-US" dirty="0"/>
              <a:t>: </a:t>
            </a:r>
            <a:r>
              <a:rPr lang="en-US" dirty="0" err="1"/>
              <a:t>author_table</a:t>
            </a:r>
            <a:endParaRPr lang="en-US" dirty="0"/>
          </a:p>
          <a:p>
            <a:r>
              <a:rPr lang="en-US" dirty="0"/>
              <a:t>Then add the columns  from the other table where </a:t>
            </a:r>
            <a:r>
              <a:rPr lang="en-US" dirty="0" err="1"/>
              <a:t>Author_name</a:t>
            </a:r>
            <a:r>
              <a:rPr lang="en-US" dirty="0"/>
              <a:t> and Author match.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43900"/>
            <a:ext cx="10897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do we do with Jane and White Fang?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How do we deal with Herman – who wrote 2 books?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C8195-1EEE-DCF1-9A41-B3902A573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27" y="156065"/>
            <a:ext cx="11095545" cy="1325563"/>
          </a:xfrm>
        </p:spPr>
        <p:txBody>
          <a:bodyPr>
            <a:normAutofit/>
          </a:bodyPr>
          <a:lstStyle/>
          <a:p>
            <a:r>
              <a:rPr lang="en-US" sz="2800" dirty="0" err="1"/>
              <a:t>pd.merge</a:t>
            </a:r>
            <a:r>
              <a:rPr lang="en-US" sz="2800" dirty="0"/>
              <a:t>(</a:t>
            </a:r>
            <a:r>
              <a:rPr lang="en-US" sz="2800" dirty="0" err="1"/>
              <a:t>book_table</a:t>
            </a:r>
            <a:r>
              <a:rPr lang="en-US" sz="2800" dirty="0"/>
              <a:t>, </a:t>
            </a:r>
            <a:r>
              <a:rPr lang="en-US" sz="2800" dirty="0" err="1"/>
              <a:t>author_table</a:t>
            </a:r>
            <a:r>
              <a:rPr lang="en-US" sz="2800" dirty="0"/>
              <a:t>, </a:t>
            </a:r>
            <a:br>
              <a:rPr lang="en-US" sz="2800" dirty="0"/>
            </a:br>
            <a:r>
              <a:rPr lang="en-US" sz="2800" dirty="0"/>
              <a:t>	      </a:t>
            </a:r>
            <a:r>
              <a:rPr lang="en-US" sz="2800" dirty="0" err="1"/>
              <a:t>on_x</a:t>
            </a:r>
            <a:r>
              <a:rPr lang="en-US" sz="2800" dirty="0"/>
              <a:t> = “</a:t>
            </a:r>
            <a:r>
              <a:rPr lang="en-US" sz="2800" dirty="0" err="1"/>
              <a:t>Author_name</a:t>
            </a:r>
            <a:r>
              <a:rPr lang="en-US" sz="2800" dirty="0"/>
              <a:t>”, </a:t>
            </a:r>
            <a:r>
              <a:rPr lang="en-US" sz="2800" dirty="0" err="1"/>
              <a:t>on_y</a:t>
            </a:r>
            <a:r>
              <a:rPr lang="en-US" sz="2800" dirty="0"/>
              <a:t> = “Author”,</a:t>
            </a:r>
            <a:br>
              <a:rPr lang="en-US" sz="2800" dirty="0"/>
            </a:br>
            <a:r>
              <a:rPr lang="en-US" sz="2800" dirty="0"/>
              <a:t>                  how = </a:t>
            </a:r>
            <a:r>
              <a:rPr lang="en-US" sz="2800" b="1" dirty="0">
                <a:solidFill>
                  <a:schemeClr val="accent2"/>
                </a:solidFill>
              </a:rPr>
              <a:t>“right”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436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1974869"/>
              </p:ext>
            </p:extLst>
          </p:nvPr>
        </p:nvGraphicFramePr>
        <p:xfrm>
          <a:off x="407324" y="1203205"/>
          <a:ext cx="5012574" cy="2402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697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613448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16429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Author_name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Harry Potter, Half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72071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962933"/>
              </p:ext>
            </p:extLst>
          </p:nvPr>
        </p:nvGraphicFramePr>
        <p:xfrm>
          <a:off x="6935582" y="1246694"/>
          <a:ext cx="446809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19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6025830"/>
              </p:ext>
            </p:extLst>
          </p:nvPr>
        </p:nvGraphicFramePr>
        <p:xfrm>
          <a:off x="1180407" y="4311130"/>
          <a:ext cx="947650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304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05346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  <a:gridCol w="2460567">
                  <a:extLst>
                    <a:ext uri="{9D8B030D-6E8A-4147-A177-3AD203B41FA5}">
                      <a16:colId xmlns:a16="http://schemas.microsoft.com/office/drawing/2014/main" val="567904508"/>
                    </a:ext>
                  </a:extLst>
                </a:gridCol>
                <a:gridCol w="2784765">
                  <a:extLst>
                    <a:ext uri="{9D8B030D-6E8A-4147-A177-3AD203B41FA5}">
                      <a16:colId xmlns:a16="http://schemas.microsoft.com/office/drawing/2014/main" val="3310877138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00618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Potter, Half 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174376" y="3605985"/>
            <a:ext cx="31809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New Table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2913611" y="3075494"/>
            <a:ext cx="4659284" cy="1235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083133" y="3137709"/>
            <a:ext cx="4172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All rows for authors included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EA466-3E55-68BD-F935-D0115068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27" y="-38490"/>
            <a:ext cx="11095545" cy="1325563"/>
          </a:xfrm>
        </p:spPr>
        <p:txBody>
          <a:bodyPr>
            <a:normAutofit/>
          </a:bodyPr>
          <a:lstStyle/>
          <a:p>
            <a:r>
              <a:rPr lang="en-US" sz="2800" dirty="0" err="1"/>
              <a:t>pd.merge</a:t>
            </a:r>
            <a:r>
              <a:rPr lang="en-US" sz="2800" dirty="0"/>
              <a:t>(</a:t>
            </a:r>
            <a:r>
              <a:rPr lang="en-US" sz="2800" dirty="0" err="1"/>
              <a:t>book_table</a:t>
            </a:r>
            <a:r>
              <a:rPr lang="en-US" sz="2800" dirty="0"/>
              <a:t>, </a:t>
            </a:r>
            <a:r>
              <a:rPr lang="en-US" sz="2800" dirty="0" err="1"/>
              <a:t>author_table</a:t>
            </a:r>
            <a:r>
              <a:rPr lang="en-US" sz="2800" dirty="0"/>
              <a:t>, </a:t>
            </a:r>
            <a:br>
              <a:rPr lang="en-US" sz="2800" dirty="0"/>
            </a:br>
            <a:r>
              <a:rPr lang="en-US" sz="2800" dirty="0"/>
              <a:t> </a:t>
            </a:r>
            <a:r>
              <a:rPr lang="en-US" sz="2800" dirty="0" err="1"/>
              <a:t>on_x</a:t>
            </a:r>
            <a:r>
              <a:rPr lang="en-US" sz="2800" dirty="0"/>
              <a:t> = “</a:t>
            </a:r>
            <a:r>
              <a:rPr lang="en-US" sz="2800" dirty="0" err="1"/>
              <a:t>Author_name</a:t>
            </a:r>
            <a:r>
              <a:rPr lang="en-US" sz="2800" dirty="0"/>
              <a:t>”, </a:t>
            </a:r>
            <a:r>
              <a:rPr lang="en-US" sz="2800" dirty="0" err="1"/>
              <a:t>on_y</a:t>
            </a:r>
            <a:r>
              <a:rPr lang="en-US" sz="2800" dirty="0"/>
              <a:t> = “Author”, how = </a:t>
            </a:r>
            <a:r>
              <a:rPr lang="en-US" sz="2800" b="1" dirty="0">
                <a:solidFill>
                  <a:schemeClr val="accent2"/>
                </a:solidFill>
              </a:rPr>
              <a:t>“right”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0421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C1D1-ADFF-FE8F-CC87-1C2C3B04C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on baseball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ACAE-FBC1-2E38-396C-AC4D54B4E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452596"/>
          </a:xfrm>
        </p:spPr>
        <p:txBody>
          <a:bodyPr/>
          <a:lstStyle/>
          <a:p>
            <a:r>
              <a:rPr lang="en-US" dirty="0"/>
              <a:t>Schools and parks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438C19-DBB6-6631-D90D-575D49CB28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30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issue: joining on a duplicated key (usually not realizing there are duplicates)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05466904"/>
              </p:ext>
            </p:extLst>
          </p:nvPr>
        </p:nvGraphicFramePr>
        <p:xfrm>
          <a:off x="838200" y="1825625"/>
          <a:ext cx="20691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540">
                  <a:extLst>
                    <a:ext uri="{9D8B030D-6E8A-4147-A177-3AD203B41FA5}">
                      <a16:colId xmlns:a16="http://schemas.microsoft.com/office/drawing/2014/main" val="3957288446"/>
                    </a:ext>
                  </a:extLst>
                </a:gridCol>
                <a:gridCol w="1138584">
                  <a:extLst>
                    <a:ext uri="{9D8B030D-6E8A-4147-A177-3AD203B41FA5}">
                      <a16:colId xmlns:a16="http://schemas.microsoft.com/office/drawing/2014/main" val="2681269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363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Nguyen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Rachel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6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133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Merkley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600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Durffey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018292"/>
                  </a:ext>
                </a:extLst>
              </a:tr>
            </a:tbl>
          </a:graphicData>
        </a:graphic>
      </p:graphicFrame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78461663"/>
              </p:ext>
            </p:extLst>
          </p:nvPr>
        </p:nvGraphicFramePr>
        <p:xfrm>
          <a:off x="7324594" y="2567305"/>
          <a:ext cx="38862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42332203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62836189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668634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127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Nguyen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01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Nguyen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6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Durffey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580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Durffey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47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Rachel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021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Soph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08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Merkley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Soph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1075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8208307"/>
              </p:ext>
            </p:extLst>
          </p:nvPr>
        </p:nvGraphicFramePr>
        <p:xfrm>
          <a:off x="838200" y="4185602"/>
          <a:ext cx="20691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540">
                  <a:extLst>
                    <a:ext uri="{9D8B030D-6E8A-4147-A177-3AD203B41FA5}">
                      <a16:colId xmlns:a16="http://schemas.microsoft.com/office/drawing/2014/main" val="3957288446"/>
                    </a:ext>
                  </a:extLst>
                </a:gridCol>
                <a:gridCol w="1138584">
                  <a:extLst>
                    <a:ext uri="{9D8B030D-6E8A-4147-A177-3AD203B41FA5}">
                      <a16:colId xmlns:a16="http://schemas.microsoft.com/office/drawing/2014/main" val="3301008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363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Rachel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6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Soph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133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Soph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600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01829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40156" y="3468377"/>
            <a:ext cx="27606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Joined -&gt;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9370" y="6012493"/>
            <a:ext cx="5924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a bare minimum, check the # of rows to ensure you got the expected result</a:t>
            </a:r>
          </a:p>
        </p:txBody>
      </p:sp>
    </p:spTree>
    <p:extLst>
      <p:ext uri="{BB962C8B-B14F-4D97-AF65-F5344CB8AC3E}">
        <p14:creationId xmlns:p14="http://schemas.microsoft.com/office/powerpoint/2010/main" val="110998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6293" y="126979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Can you guess what the following does?</a:t>
            </a:r>
            <a:br>
              <a:rPr lang="en-US" dirty="0"/>
            </a:br>
            <a:br>
              <a:rPr lang="en-US" dirty="0"/>
            </a:br>
            <a:r>
              <a:rPr lang="en-US" sz="2700" dirty="0" err="1"/>
              <a:t>pd.merge</a:t>
            </a:r>
            <a:r>
              <a:rPr lang="en-US" sz="2700" dirty="0"/>
              <a:t>(</a:t>
            </a:r>
            <a:r>
              <a:rPr lang="en-US" sz="2700" dirty="0" err="1"/>
              <a:t>book_table</a:t>
            </a:r>
            <a:r>
              <a:rPr lang="en-US" sz="2700" dirty="0"/>
              <a:t>, </a:t>
            </a:r>
            <a:r>
              <a:rPr lang="en-US" sz="2700" dirty="0" err="1"/>
              <a:t>author_table</a:t>
            </a:r>
            <a:r>
              <a:rPr lang="en-US" sz="2700" dirty="0"/>
              <a:t>, </a:t>
            </a:r>
            <a:br>
              <a:rPr lang="en-US" sz="2700" dirty="0"/>
            </a:br>
            <a:r>
              <a:rPr lang="en-US" sz="2700" dirty="0"/>
              <a:t>                   </a:t>
            </a:r>
            <a:r>
              <a:rPr lang="en-US" sz="2400" dirty="0" err="1"/>
              <a:t>on_x</a:t>
            </a:r>
            <a:r>
              <a:rPr lang="en-US" sz="2400" dirty="0"/>
              <a:t> = “</a:t>
            </a:r>
            <a:r>
              <a:rPr lang="en-US" sz="2400" dirty="0" err="1"/>
              <a:t>Author_name</a:t>
            </a:r>
            <a:r>
              <a:rPr lang="en-US" sz="2400" dirty="0"/>
              <a:t>”, </a:t>
            </a:r>
            <a:r>
              <a:rPr lang="en-US" sz="2400" dirty="0" err="1"/>
              <a:t>on_y</a:t>
            </a:r>
            <a:r>
              <a:rPr lang="en-US" sz="2400" dirty="0"/>
              <a:t> = “Author”,</a:t>
            </a:r>
            <a:br>
              <a:rPr lang="en-US" sz="2700" dirty="0"/>
            </a:br>
            <a:r>
              <a:rPr lang="en-US" sz="2700" dirty="0"/>
              <a:t>                   how = </a:t>
            </a:r>
            <a:r>
              <a:rPr lang="en-US" sz="2700" b="1" dirty="0">
                <a:solidFill>
                  <a:schemeClr val="accent2"/>
                </a:solidFill>
              </a:rPr>
              <a:t>“outer”</a:t>
            </a:r>
            <a:r>
              <a:rPr lang="en-US" sz="2700" dirty="0"/>
              <a:t>)</a:t>
            </a:r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4412339"/>
              </p:ext>
            </p:extLst>
          </p:nvPr>
        </p:nvGraphicFramePr>
        <p:xfrm>
          <a:off x="1223179" y="3658235"/>
          <a:ext cx="947650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304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05346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  <a:gridCol w="2460567">
                  <a:extLst>
                    <a:ext uri="{9D8B030D-6E8A-4147-A177-3AD203B41FA5}">
                      <a16:colId xmlns:a16="http://schemas.microsoft.com/office/drawing/2014/main" val="567904508"/>
                    </a:ext>
                  </a:extLst>
                </a:gridCol>
                <a:gridCol w="2784765">
                  <a:extLst>
                    <a:ext uri="{9D8B030D-6E8A-4147-A177-3AD203B41FA5}">
                      <a16:colId xmlns:a16="http://schemas.microsoft.com/office/drawing/2014/main" val="3310877138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00618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 Potter, Half 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128195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5AB789D9-3C07-C2FD-16AD-650372D7391A}"/>
              </a:ext>
            </a:extLst>
          </p:cNvPr>
          <p:cNvSpPr/>
          <p:nvPr/>
        </p:nvSpPr>
        <p:spPr>
          <a:xfrm>
            <a:off x="3064213" y="2595360"/>
            <a:ext cx="1040859" cy="449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8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F25AD-D0DD-1360-3F8A-F4FC4A95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5F60-3A14-DA8B-57E0-9BD94981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on baseball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1AA4D-D3D3-645C-4D6E-B8C4EA0CB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452596"/>
          </a:xfrm>
        </p:spPr>
        <p:txBody>
          <a:bodyPr/>
          <a:lstStyle/>
          <a:p>
            <a:r>
              <a:rPr lang="en-US" dirty="0"/>
              <a:t>Schools and parks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93164-C2DA-C796-8927-EBD7B6F10C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55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817187"/>
              </p:ext>
            </p:extLst>
          </p:nvPr>
        </p:nvGraphicFramePr>
        <p:xfrm>
          <a:off x="407324" y="1290757"/>
          <a:ext cx="5012574" cy="2402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697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613448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16429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Author_name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Harry Potter, Half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72071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9833590"/>
              </p:ext>
            </p:extLst>
          </p:nvPr>
        </p:nvGraphicFramePr>
        <p:xfrm>
          <a:off x="6935582" y="1334246"/>
          <a:ext cx="446809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19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143900"/>
            <a:ext cx="10897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do we do with Jane and Fang?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How do we deal with Herman – who wrote 2 books?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73243E-BB44-A96B-3268-F383D49EF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27" y="-38490"/>
            <a:ext cx="11095545" cy="1325563"/>
          </a:xfrm>
        </p:spPr>
        <p:txBody>
          <a:bodyPr>
            <a:normAutofit/>
          </a:bodyPr>
          <a:lstStyle/>
          <a:p>
            <a:r>
              <a:rPr lang="en-US" sz="2800" dirty="0" err="1"/>
              <a:t>pd.merge</a:t>
            </a:r>
            <a:r>
              <a:rPr lang="en-US" sz="2800" dirty="0"/>
              <a:t>(</a:t>
            </a:r>
            <a:r>
              <a:rPr lang="en-US" sz="2800" dirty="0" err="1"/>
              <a:t>book_table</a:t>
            </a:r>
            <a:r>
              <a:rPr lang="en-US" sz="2800" dirty="0"/>
              <a:t>, </a:t>
            </a:r>
            <a:r>
              <a:rPr lang="en-US" sz="2800" dirty="0" err="1"/>
              <a:t>author_table</a:t>
            </a:r>
            <a:r>
              <a:rPr lang="en-US" sz="2800" dirty="0"/>
              <a:t>, </a:t>
            </a:r>
            <a:br>
              <a:rPr lang="en-US" sz="2800" dirty="0"/>
            </a:br>
            <a:r>
              <a:rPr lang="en-US" sz="2800" dirty="0"/>
              <a:t>                  </a:t>
            </a:r>
            <a:r>
              <a:rPr lang="en-US" sz="2800" dirty="0" err="1"/>
              <a:t>on_x</a:t>
            </a:r>
            <a:r>
              <a:rPr lang="en-US" sz="2800" dirty="0"/>
              <a:t> = “</a:t>
            </a:r>
            <a:r>
              <a:rPr lang="en-US" sz="2800" dirty="0" err="1"/>
              <a:t>Author_name</a:t>
            </a:r>
            <a:r>
              <a:rPr lang="en-US" sz="2800" dirty="0"/>
              <a:t>”, </a:t>
            </a:r>
            <a:r>
              <a:rPr lang="en-US" sz="2800" dirty="0" err="1"/>
              <a:t>on_y</a:t>
            </a:r>
            <a:r>
              <a:rPr lang="en-US" sz="2800" dirty="0"/>
              <a:t> = “Author”,</a:t>
            </a:r>
            <a:br>
              <a:rPr lang="en-US" sz="2800" dirty="0"/>
            </a:br>
            <a:r>
              <a:rPr lang="en-US" sz="2800" dirty="0"/>
              <a:t>                  how = </a:t>
            </a:r>
            <a:r>
              <a:rPr lang="en-US" sz="2800" b="1" dirty="0">
                <a:solidFill>
                  <a:schemeClr val="accent2"/>
                </a:solidFill>
              </a:rPr>
              <a:t>“inner”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795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600678"/>
              </p:ext>
            </p:extLst>
          </p:nvPr>
        </p:nvGraphicFramePr>
        <p:xfrm>
          <a:off x="407324" y="1465854"/>
          <a:ext cx="5012574" cy="2402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697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613448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16429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Author_name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# of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206052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Harry Potter, Half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169441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White 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Jack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72071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35968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sz="1600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4137253"/>
              </p:ext>
            </p:extLst>
          </p:nvPr>
        </p:nvGraphicFramePr>
        <p:xfrm>
          <a:off x="6935582" y="1509343"/>
          <a:ext cx="446809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19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271187">
                  <a:extLst>
                    <a:ext uri="{9D8B030D-6E8A-4147-A177-3AD203B41FA5}">
                      <a16:colId xmlns:a16="http://schemas.microsoft.com/office/drawing/2014/main" val="3251870120"/>
                    </a:ext>
                  </a:extLst>
                </a:gridCol>
              </a:tblGrid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Jane Austen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99419"/>
                  </a:ext>
                </a:extLst>
              </a:tr>
              <a:tr h="364732"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274128" y="3922942"/>
            <a:ext cx="31809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New Table</a:t>
            </a: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3373021"/>
              </p:ext>
            </p:extLst>
          </p:nvPr>
        </p:nvGraphicFramePr>
        <p:xfrm>
          <a:off x="1126374" y="4661319"/>
          <a:ext cx="9476509" cy="1882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8128">
                  <a:extLst>
                    <a:ext uri="{9D8B030D-6E8A-4147-A177-3AD203B41FA5}">
                      <a16:colId xmlns:a16="http://schemas.microsoft.com/office/drawing/2014/main" val="3084028022"/>
                    </a:ext>
                  </a:extLst>
                </a:gridCol>
                <a:gridCol w="2053589">
                  <a:extLst>
                    <a:ext uri="{9D8B030D-6E8A-4147-A177-3AD203B41FA5}">
                      <a16:colId xmlns:a16="http://schemas.microsoft.com/office/drawing/2014/main" val="2927343088"/>
                    </a:ext>
                  </a:extLst>
                </a:gridCol>
                <a:gridCol w="1548264">
                  <a:extLst>
                    <a:ext uri="{9D8B030D-6E8A-4147-A177-3AD203B41FA5}">
                      <a16:colId xmlns:a16="http://schemas.microsoft.com/office/drawing/2014/main" val="2732772911"/>
                    </a:ext>
                  </a:extLst>
                </a:gridCol>
                <a:gridCol w="1548264">
                  <a:extLst>
                    <a:ext uri="{9D8B030D-6E8A-4147-A177-3AD203B41FA5}">
                      <a16:colId xmlns:a16="http://schemas.microsoft.com/office/drawing/2014/main" val="313856867"/>
                    </a:ext>
                  </a:extLst>
                </a:gridCol>
                <a:gridCol w="1548264">
                  <a:extLst>
                    <a:ext uri="{9D8B030D-6E8A-4147-A177-3AD203B41FA5}">
                      <a16:colId xmlns:a16="http://schemas.microsoft.com/office/drawing/2014/main" val="3875263699"/>
                    </a:ext>
                  </a:extLst>
                </a:gridCol>
              </a:tblGrid>
              <a:tr h="266887"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9040"/>
                  </a:ext>
                </a:extLst>
              </a:tr>
              <a:tr h="266887">
                <a:tc>
                  <a:txBody>
                    <a:bodyPr/>
                    <a:lstStyle/>
                    <a:p>
                      <a:r>
                        <a:rPr lang="en-US" dirty="0"/>
                        <a:t>Moby Dick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03937"/>
                  </a:ext>
                </a:extLst>
              </a:tr>
              <a:tr h="419550">
                <a:tc>
                  <a:txBody>
                    <a:bodyPr/>
                    <a:lstStyle/>
                    <a:p>
                      <a:r>
                        <a:rPr lang="en-US" sz="1600" dirty="0"/>
                        <a:t>Harry Potter, Half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Blood 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JK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930"/>
                  </a:ext>
                </a:extLst>
              </a:tr>
              <a:tr h="266887">
                <a:tc>
                  <a:txBody>
                    <a:bodyPr/>
                    <a:lstStyle/>
                    <a:p>
                      <a:r>
                        <a:rPr lang="en-US" dirty="0"/>
                        <a:t>Old Yeller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Fred Gipson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83923"/>
                  </a:ext>
                </a:extLst>
              </a:tr>
              <a:tr h="266887">
                <a:tc>
                  <a:txBody>
                    <a:bodyPr/>
                    <a:lstStyle/>
                    <a:p>
                      <a:r>
                        <a:rPr lang="en-US" dirty="0"/>
                        <a:t>Bartleby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Herman Melville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1887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129315E-DEA5-C02D-9377-2A606788CD95}"/>
              </a:ext>
            </a:extLst>
          </p:cNvPr>
          <p:cNvSpPr/>
          <p:nvPr/>
        </p:nvSpPr>
        <p:spPr>
          <a:xfrm>
            <a:off x="8137683" y="-27800"/>
            <a:ext cx="35060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INNER JOIN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7702C-0E4F-ABAF-438D-B87526B3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27" y="-38490"/>
            <a:ext cx="11095545" cy="1325563"/>
          </a:xfrm>
        </p:spPr>
        <p:txBody>
          <a:bodyPr>
            <a:normAutofit/>
          </a:bodyPr>
          <a:lstStyle/>
          <a:p>
            <a:r>
              <a:rPr lang="en-US" sz="2800" dirty="0" err="1"/>
              <a:t>pd.merge</a:t>
            </a:r>
            <a:r>
              <a:rPr lang="en-US" sz="2800" dirty="0"/>
              <a:t>(</a:t>
            </a:r>
            <a:r>
              <a:rPr lang="en-US" sz="2800" dirty="0" err="1"/>
              <a:t>book_table</a:t>
            </a:r>
            <a:r>
              <a:rPr lang="en-US" sz="2800" dirty="0"/>
              <a:t>, </a:t>
            </a:r>
            <a:r>
              <a:rPr lang="en-US" sz="2800" dirty="0" err="1"/>
              <a:t>author_table</a:t>
            </a:r>
            <a:r>
              <a:rPr lang="en-US" sz="2800" dirty="0"/>
              <a:t>, </a:t>
            </a:r>
            <a:br>
              <a:rPr lang="en-US" sz="2800" dirty="0"/>
            </a:br>
            <a:r>
              <a:rPr lang="en-US" sz="2800" dirty="0"/>
              <a:t>                  </a:t>
            </a:r>
            <a:r>
              <a:rPr lang="en-US" sz="2800" dirty="0" err="1"/>
              <a:t>on_x</a:t>
            </a:r>
            <a:r>
              <a:rPr lang="en-US" sz="2800" dirty="0"/>
              <a:t> = “</a:t>
            </a:r>
            <a:r>
              <a:rPr lang="en-US" sz="2800" dirty="0" err="1"/>
              <a:t>Author_name</a:t>
            </a:r>
            <a:r>
              <a:rPr lang="en-US" sz="2800" dirty="0"/>
              <a:t>”, </a:t>
            </a:r>
            <a:r>
              <a:rPr lang="en-US" sz="2800" dirty="0" err="1"/>
              <a:t>on_y</a:t>
            </a:r>
            <a:r>
              <a:rPr lang="en-US" sz="2800" dirty="0"/>
              <a:t> = “Author”,</a:t>
            </a:r>
            <a:br>
              <a:rPr lang="en-US" sz="2800" dirty="0"/>
            </a:br>
            <a:r>
              <a:rPr lang="en-US" sz="2800" dirty="0"/>
              <a:t>                  how = </a:t>
            </a:r>
            <a:r>
              <a:rPr lang="en-US" sz="2800" b="1" dirty="0">
                <a:solidFill>
                  <a:schemeClr val="accent2"/>
                </a:solidFill>
              </a:rPr>
              <a:t>“inner”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88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5D09-DE76-E2C2-F3AB-2F34ADD1E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426AF3-6169-E360-E8BA-19E57C78E0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5242966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375080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905886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Type of Join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Records returned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092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870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735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9294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2621F2-9737-56C9-4AEF-040B70787BCF}"/>
              </a:ext>
            </a:extLst>
          </p:cNvPr>
          <p:cNvSpPr txBox="1"/>
          <p:nvPr/>
        </p:nvSpPr>
        <p:spPr>
          <a:xfrm>
            <a:off x="9270460" y="6089515"/>
            <a:ext cx="237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 to code.</a:t>
            </a:r>
          </a:p>
        </p:txBody>
      </p:sp>
    </p:spTree>
    <p:extLst>
      <p:ext uri="{BB962C8B-B14F-4D97-AF65-F5344CB8AC3E}">
        <p14:creationId xmlns:p14="http://schemas.microsoft.com/office/powerpoint/2010/main" val="4149467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FD864706841F429944AA8AEC96A5F6" ma:contentTypeVersion="35" ma:contentTypeDescription="Create a new document." ma:contentTypeScope="" ma:versionID="58019298a95b80a072b42d332cb397db">
  <xsd:schema xmlns:xsd="http://www.w3.org/2001/XMLSchema" xmlns:xs="http://www.w3.org/2001/XMLSchema" xmlns:p="http://schemas.microsoft.com/office/2006/metadata/properties" xmlns:ns3="56caf978-ed08-4319-8660-ea565c3c81d4" xmlns:ns4="1c0769b7-2dc5-4346-9277-bf71cefdc793" targetNamespace="http://schemas.microsoft.com/office/2006/metadata/properties" ma:root="true" ma:fieldsID="92a71820afc3cddf950a71f89fd1abfc" ns3:_="" ns4:_="">
    <xsd:import namespace="56caf978-ed08-4319-8660-ea565c3c81d4"/>
    <xsd:import namespace="1c0769b7-2dc5-4346-9277-bf71cefdc79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NotebookType" minOccurs="0"/>
                <xsd:element ref="ns4:FolderType" minOccurs="0"/>
                <xsd:element ref="ns4:CultureName" minOccurs="0"/>
                <xsd:element ref="ns4:AppVersion" minOccurs="0"/>
                <xsd:element ref="ns4:TeamsChannelId" minOccurs="0"/>
                <xsd:element ref="ns4:Owner" minOccurs="0"/>
                <xsd:element ref="ns4:Math_Settings" minOccurs="0"/>
                <xsd:element ref="ns4:DefaultSectionNames" minOccurs="0"/>
                <xsd:element ref="ns4:Templates" minOccurs="0"/>
                <xsd:element ref="ns4:Teachers" minOccurs="0"/>
                <xsd:element ref="ns4:Students" minOccurs="0"/>
                <xsd:element ref="ns4:Student_Groups" minOccurs="0"/>
                <xsd:element ref="ns4:Distribution_Groups" minOccurs="0"/>
                <xsd:element ref="ns4:LMS_Mapping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IsNotebookLock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caf978-ed08-4319-8660-ea565c3c81d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0769b7-2dc5-4346-9277-bf71cefdc7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6" nillable="true" ma:displayName="MediaServiceAutoTags" ma:internalName="MediaServiceAutoTags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NotebookType" ma:index="23" nillable="true" ma:displayName="Notebook Type" ma:internalName="NotebookType">
      <xsd:simpleType>
        <xsd:restriction base="dms:Text"/>
      </xsd:simpleType>
    </xsd:element>
    <xsd:element name="FolderType" ma:index="24" nillable="true" ma:displayName="Folder Type" ma:internalName="FolderType">
      <xsd:simpleType>
        <xsd:restriction base="dms:Text"/>
      </xsd:simpleType>
    </xsd:element>
    <xsd:element name="CultureName" ma:index="25" nillable="true" ma:displayName="Culture Name" ma:internalName="CultureName">
      <xsd:simpleType>
        <xsd:restriction base="dms:Text"/>
      </xsd:simpleType>
    </xsd:element>
    <xsd:element name="AppVersion" ma:index="26" nillable="true" ma:displayName="App Version" ma:internalName="AppVersion">
      <xsd:simpleType>
        <xsd:restriction base="dms:Text"/>
      </xsd:simpleType>
    </xsd:element>
    <xsd:element name="TeamsChannelId" ma:index="27" nillable="true" ma:displayName="Teams Channel Id" ma:internalName="TeamsChannelId">
      <xsd:simpleType>
        <xsd:restriction base="dms:Text"/>
      </xsd:simpleType>
    </xsd:element>
    <xsd:element name="Owner" ma:index="28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9" nillable="true" ma:displayName="Math Settings" ma:internalName="Math_Settings">
      <xsd:simpleType>
        <xsd:restriction base="dms:Text"/>
      </xsd:simpleType>
    </xsd:element>
    <xsd:element name="DefaultSectionNames" ma:index="30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1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32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3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4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5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6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7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8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9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40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41" nillable="true" ma:displayName="Is Collaboration Space Locked" ma:internalName="Is_Collaboration_Space_Locked">
      <xsd:simpleType>
        <xsd:restriction base="dms:Boolean"/>
      </xsd:simpleType>
    </xsd:element>
    <xsd:element name="IsNotebookLocked" ma:index="42" nillable="true" ma:displayName="Is Notebook Locked" ma:internalName="IsNotebookLocked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1c0769b7-2dc5-4346-9277-bf71cefdc793" xsi:nil="true"/>
    <Owner xmlns="1c0769b7-2dc5-4346-9277-bf71cefdc793">
      <UserInfo>
        <DisplayName/>
        <AccountId xsi:nil="true"/>
        <AccountType/>
      </UserInfo>
    </Owner>
    <Students xmlns="1c0769b7-2dc5-4346-9277-bf71cefdc793">
      <UserInfo>
        <DisplayName/>
        <AccountId xsi:nil="true"/>
        <AccountType/>
      </UserInfo>
    </Students>
    <Student_Groups xmlns="1c0769b7-2dc5-4346-9277-bf71cefdc793">
      <UserInfo>
        <DisplayName/>
        <AccountId xsi:nil="true"/>
        <AccountType/>
      </UserInfo>
    </Student_Groups>
    <TeamsChannelId xmlns="1c0769b7-2dc5-4346-9277-bf71cefdc793" xsi:nil="true"/>
    <NotebookType xmlns="1c0769b7-2dc5-4346-9277-bf71cefdc793" xsi:nil="true"/>
    <Distribution_Groups xmlns="1c0769b7-2dc5-4346-9277-bf71cefdc793" xsi:nil="true"/>
    <IsNotebookLocked xmlns="1c0769b7-2dc5-4346-9277-bf71cefdc793" xsi:nil="true"/>
    <Is_Collaboration_Space_Locked xmlns="1c0769b7-2dc5-4346-9277-bf71cefdc793" xsi:nil="true"/>
    <Math_Settings xmlns="1c0769b7-2dc5-4346-9277-bf71cefdc793" xsi:nil="true"/>
    <Self_Registration_Enabled xmlns="1c0769b7-2dc5-4346-9277-bf71cefdc793" xsi:nil="true"/>
    <Has_Teacher_Only_SectionGroup xmlns="1c0769b7-2dc5-4346-9277-bf71cefdc793" xsi:nil="true"/>
    <Invited_Teachers xmlns="1c0769b7-2dc5-4346-9277-bf71cefdc793" xsi:nil="true"/>
    <Invited_Students xmlns="1c0769b7-2dc5-4346-9277-bf71cefdc793" xsi:nil="true"/>
    <DefaultSectionNames xmlns="1c0769b7-2dc5-4346-9277-bf71cefdc793" xsi:nil="true"/>
    <Templates xmlns="1c0769b7-2dc5-4346-9277-bf71cefdc793" xsi:nil="true"/>
    <Teachers xmlns="1c0769b7-2dc5-4346-9277-bf71cefdc793">
      <UserInfo>
        <DisplayName/>
        <AccountId xsi:nil="true"/>
        <AccountType/>
      </UserInfo>
    </Teachers>
    <AppVersion xmlns="1c0769b7-2dc5-4346-9277-bf71cefdc793" xsi:nil="true"/>
    <CultureName xmlns="1c0769b7-2dc5-4346-9277-bf71cefdc793" xsi:nil="true"/>
    <LMS_Mappings xmlns="1c0769b7-2dc5-4346-9277-bf71cefdc79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716DD5-37A6-494F-9D2D-68B65493C4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caf978-ed08-4319-8660-ea565c3c81d4"/>
    <ds:schemaRef ds:uri="1c0769b7-2dc5-4346-9277-bf71cefdc7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79B1AD-394D-4296-8B82-9C92F2233C11}">
  <ds:schemaRefs>
    <ds:schemaRef ds:uri="56caf978-ed08-4319-8660-ea565c3c81d4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1c0769b7-2dc5-4346-9277-bf71cefdc79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EA1AA6C-F548-44F7-B591-06C16C5624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4640</TotalTime>
  <Words>1639</Words>
  <Application>Microsoft Office PowerPoint</Application>
  <PresentationFormat>Widescreen</PresentationFormat>
  <Paragraphs>593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Joins</vt:lpstr>
      <vt:lpstr>“Book Table”                       “Author Table”</vt:lpstr>
      <vt:lpstr>Key: a unique identifier for a table</vt:lpstr>
      <vt:lpstr>Foreign Key: column(s) in one table that provide the link to another table</vt:lpstr>
      <vt:lpstr>pd.merge(book_table, author_table,                    on_x = “Author_name”, on_y = “Author”,                    how = “left”)</vt:lpstr>
      <vt:lpstr>pd.merge(book_table, author_table,   on_x = “Author_name”, on_y = “Author”,                   how = “left”)</vt:lpstr>
      <vt:lpstr>pd.merge(book_table, author_table,   on_x = “Author_name”, on_y = “Author”,                   how = “left”)</vt:lpstr>
      <vt:lpstr>pd.merge(book_table, author_table,                    on_x = “Author_name”, on_y = “Author”,                   how = “left”)</vt:lpstr>
      <vt:lpstr>pd.merge(book_table, author_table,         on_x = “Author_name”, on_y = “Author”,                   how = “right”)</vt:lpstr>
      <vt:lpstr>pd.merge(book_table, author_table,   on_x = “Author_name”, on_y = “Author”, how = “right”)</vt:lpstr>
      <vt:lpstr>Practice on baseball data</vt:lpstr>
      <vt:lpstr>Common issue: joining on a duplicated key (usually not realizing there are duplicates)</vt:lpstr>
      <vt:lpstr>Can you guess what the following does?  pd.merge(book_table, author_table,                     on_x = “Author_name”, on_y = “Author”,                    how = “outer”)</vt:lpstr>
      <vt:lpstr>Practice on baseball data</vt:lpstr>
      <vt:lpstr>pd.merge(book_table, author_table,                    on_x = “Author_name”, on_y = “Author”,                   how = “inner”)</vt:lpstr>
      <vt:lpstr>pd.merge(book_table, author_table,                    on_x = “Author_name”, on_y = “Author”,                   how = “inner”)</vt:lpstr>
      <vt:lpstr>Summary</vt:lpstr>
    </vt:vector>
  </TitlesOfParts>
  <Company>Brigham Young University - 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Palmer, David</dc:creator>
  <cp:lastModifiedBy>Palmer, David</cp:lastModifiedBy>
  <cp:revision>24</cp:revision>
  <dcterms:created xsi:type="dcterms:W3CDTF">2020-05-27T22:10:03Z</dcterms:created>
  <dcterms:modified xsi:type="dcterms:W3CDTF">2025-10-17T23:35:44Z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0x0101000FFD864706841F429944AA8AEC96A5F6</vt:lpwstr>
  </property>
</Properties>
</file>